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7" r:id="rId16"/>
    <p:sldId id="273" r:id="rId17"/>
    <p:sldId id="276" r:id="rId18"/>
    <p:sldId id="281" r:id="rId19"/>
    <p:sldId id="274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37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205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9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9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43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1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00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57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398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3430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409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95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318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6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542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727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2FEB-1EAD-78F8-6DD4-D316E397F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  <a:latin typeface="Algerian" panose="04020705040A02060702" pitchFamily="82" charset="0"/>
              </a:rPr>
              <a:t>Customer Order Data Analysis Report</a:t>
            </a:r>
            <a:endParaRPr lang="en-IN" sz="66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7999B-6B2D-5CE5-1238-0EF4C3E43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Arial Black" panose="020B0A04020102020204" pitchFamily="34" charset="0"/>
              </a:rPr>
              <a:t>BY ISHANT KOLI</a:t>
            </a:r>
          </a:p>
        </p:txBody>
      </p:sp>
    </p:spTree>
    <p:extLst>
      <p:ext uri="{BB962C8B-B14F-4D97-AF65-F5344CB8AC3E}">
        <p14:creationId xmlns:p14="http://schemas.microsoft.com/office/powerpoint/2010/main" val="421637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8980-A0FE-B728-B484-A2B34E43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FF00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A9E1-CB56-72D3-8F83-20EDA5EDF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analyze sales performance by product, customer, and location to identify top performers and areas for improvement.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identify patterns in delivery times and ratings to improve customer satisfaction and delivery efficiency.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determine the most popular order days and times to optimize staffing and inventory management.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segment customers based on their purchase frequency and value to develop targeted marketing strategies.</a:t>
            </a:r>
            <a:endParaRPr lang="en-I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9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3738-74FD-BB98-88E4-8A3E655E4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FF00"/>
                </a:solidFill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6ABF-197D-87A3-5399-784FFA825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33516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Which product sells the most frequently?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is the total revenue generated over the analysis period?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Which cities/locations are the best-performing in terms of sales revenue?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is the average order value (AOV) and how does it vary by day of the week or city?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Customer and Delivery Analysis Who are the top customers by total orders or revenue?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is the most common delivery method used by customers?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Are there any correlations between the "Order Day" (Mon/Tue/etc.) and the "Delivery Rating"?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95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337B-47F6-36D4-764B-A47162768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rgbClr val="C00000"/>
                </a:solidFill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22228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A9F408-308A-8C73-9D34-93401F54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"/>
            <a:ext cx="12192000" cy="550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7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ADC4-A8C6-B488-6A25-3B56E1D1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E335-108C-F151-150C-07D1B972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rgbClr val="C00000"/>
                </a:solidFill>
              </a:rPr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101782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EE50-93D9-64F2-9B81-CC2FEC4E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Wise Payable Amount 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3547A-32E6-8B97-522A-BBC6D8634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19" y="1991360"/>
            <a:ext cx="9926435" cy="406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79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0246-EB41-E35B-5AFE-73F62C79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033E-8E54-7A21-2680-E30ED1A3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Order Delivery Status Report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5066A-31A1-A84D-CC02-4FA84E853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09" y="1991360"/>
            <a:ext cx="9002381" cy="360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5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B33D-F8F8-4100-297C-541040AD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6AA2-B935-1358-3B59-8CA0B4DA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Apply The Discount People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9FBE2-5B6D-ADAA-0848-107B51C46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56" y="1991360"/>
            <a:ext cx="9945488" cy="36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6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6790C-D8D3-410A-8FC9-51978459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3A52-F770-481D-F787-4D1A3E12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City Wise Total Product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BFD62-6F4E-05E4-5491-618CDEE32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71" y="1950719"/>
            <a:ext cx="10078857" cy="364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1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C8A7-B419-EE71-A3AF-64F2D277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3D4D-0B3F-8A5E-8066-D5E2D0568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Product Name Wise Total Report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25A00-F716-3444-48AE-5C12B020C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66" y="1971040"/>
            <a:ext cx="9793067" cy="372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46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A6AA-0DF9-0913-7C8C-08B1CF23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40C3-6FE3-5CCC-D99E-D2EFE8D4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Payment Mode Wise Total Report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312F5-06FD-DB67-32E3-AC471EDF3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14" y="1991360"/>
            <a:ext cx="9831172" cy="370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2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6E5E-EF15-92B6-A35E-3239EF0C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7402-3130-E224-09ED-41EEC1D6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Check The Days Wise Total Value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5E9C8-F879-DD0C-D022-EF77B85CE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704" y="1981200"/>
            <a:ext cx="9440592" cy="363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06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754B-EA0C-A8FF-FA18-F2DCFAE7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36AF-0263-51FF-7C06-6FF22036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04" y="2947736"/>
            <a:ext cx="8596668" cy="962527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   </a:t>
            </a:r>
            <a:r>
              <a:rPr lang="en-IN" sz="6000" b="1" dirty="0">
                <a:solidFill>
                  <a:srgbClr val="C00000"/>
                </a:solidFill>
              </a:rPr>
              <a:t>SLICERS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61CC8-77CD-1C7F-0A2E-960CDAAC1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600" y="637785"/>
            <a:ext cx="4246880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5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D32D-043C-0090-A5C3-1027E6F8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FDD8-67D3-0378-8071-DC57E352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3" y="128336"/>
            <a:ext cx="8596668" cy="962527"/>
          </a:xfrm>
        </p:spPr>
        <p:txBody>
          <a:bodyPr>
            <a:normAutofit fontScale="90000"/>
          </a:bodyPr>
          <a:lstStyle/>
          <a:p>
            <a:r>
              <a:rPr lang="en-IN" sz="6000" b="1" dirty="0">
                <a:solidFill>
                  <a:srgbClr val="00B050"/>
                </a:solidFill>
              </a:rPr>
              <a:t>FINAL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3A513-D496-D6FD-71A8-BFC308E3C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214482"/>
            <a:ext cx="11795760" cy="520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65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86BCF-C634-D62B-F2A9-D15DE751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AA07-F6B8-627D-7A23-FCC71765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rgbClr val="C00000"/>
                </a:solidFill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620162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0442-D728-18E3-5397-26FB1C5D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A01CB-C32D-7F20-41D8-BC1382AD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8" y="914400"/>
            <a:ext cx="8596668" cy="5279188"/>
          </a:xfrm>
        </p:spPr>
        <p:txBody>
          <a:bodyPr>
            <a:normAutofit fontScale="92500"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Weekends contribute a total value of </a:t>
            </a:r>
            <a:r>
              <a:rPr lang="en-US" sz="2400" b="1" dirty="0"/>
              <a:t>33,104</a:t>
            </a:r>
            <a:r>
              <a:rPr lang="en-US" sz="2400" dirty="0"/>
              <a:t>, representing approximately </a:t>
            </a:r>
            <a:r>
              <a:rPr lang="en-US" sz="2400" b="1" dirty="0"/>
              <a:t>29.3%</a:t>
            </a:r>
            <a:r>
              <a:rPr lang="en-US" sz="2400" dirty="0"/>
              <a:t> of the combined total of </a:t>
            </a:r>
            <a:r>
              <a:rPr lang="en-US" sz="2400" b="1" dirty="0"/>
              <a:t>113,082</a:t>
            </a:r>
            <a:r>
              <a:rPr lang="en-US" sz="2400" dirty="0"/>
              <a:t>.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Only about </a:t>
            </a:r>
            <a:r>
              <a:rPr lang="en-US" sz="2400" b="1" dirty="0"/>
              <a:t>54.8%</a:t>
            </a:r>
            <a:r>
              <a:rPr lang="en-US" sz="2400" dirty="0"/>
              <a:t> of orders were delivered as expected. In most industries, a "Late" rate this high would be considered a critical issue for customer satisfaction and retention.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Despite the small uptick at the end, the final value at point 10 </a:t>
            </a:r>
            <a:r>
              <a:rPr lang="en-US" sz="2400" b="1" dirty="0"/>
              <a:t>(28,314) </a:t>
            </a:r>
            <a:r>
              <a:rPr lang="en-US" sz="2400" dirty="0"/>
              <a:t>remains significantly lower than the starting value at point 0 </a:t>
            </a:r>
            <a:r>
              <a:rPr lang="en-US" sz="2400" b="1" dirty="0"/>
              <a:t>(60,326), </a:t>
            </a:r>
            <a:r>
              <a:rPr lang="en-US" sz="2400" dirty="0"/>
              <a:t>showing an overall net loss of over </a:t>
            </a:r>
            <a:r>
              <a:rPr lang="en-US" sz="2400" b="1" dirty="0"/>
              <a:t>53%</a:t>
            </a:r>
            <a:r>
              <a:rPr lang="en-US" sz="2400" dirty="0"/>
              <a:t> across the charted range.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Bangalore’s volume (</a:t>
            </a:r>
            <a:r>
              <a:rPr lang="en-US" sz="2400" b="1" dirty="0"/>
              <a:t>26,659</a:t>
            </a:r>
            <a:r>
              <a:rPr lang="en-US" sz="2400" dirty="0"/>
              <a:t>) is more than </a:t>
            </a:r>
            <a:r>
              <a:rPr lang="en-US" sz="2400" b="1" dirty="0"/>
              <a:t>double</a:t>
            </a:r>
            <a:r>
              <a:rPr lang="en-US" sz="2400" dirty="0"/>
              <a:t> that of Kolkata, Mumbai, or Delhi. This suggests a heavy reliance on or a much stronger market presence in the South Indian hubs (Bangalore and Hyderabad).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74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3C02-78A3-9268-A247-FF32DEEB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6B29-00CD-BE3D-9F09-A7AAC8D18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8" y="1058779"/>
            <a:ext cx="8596668" cy="478188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Milk 1L is the top performer:</a:t>
            </a:r>
            <a:r>
              <a:rPr lang="en-US" sz="2400" dirty="0"/>
              <a:t> This product has the highest total volume at </a:t>
            </a:r>
            <a:r>
              <a:rPr lang="en-US" sz="2400" b="1" dirty="0"/>
              <a:t>16,952</a:t>
            </a:r>
            <a:r>
              <a:rPr lang="en-US" sz="2400" dirty="0"/>
              <a:t> units.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Wallet Usage is Surprisingly High</a:t>
            </a:r>
            <a:r>
              <a:rPr lang="en-US" sz="2400" dirty="0"/>
              <a:t> Often, Wallets (like Paytm, </a:t>
            </a:r>
            <a:r>
              <a:rPr lang="en-US" sz="2400" dirty="0" err="1"/>
              <a:t>PhonePe</a:t>
            </a:r>
            <a:r>
              <a:rPr lang="en-US" sz="2400" dirty="0"/>
              <a:t> wallet, etc.) lose ground to UPI, but in your data, Wallets are actually slightly </a:t>
            </a:r>
            <a:r>
              <a:rPr lang="en-US" sz="2400" i="1" dirty="0"/>
              <a:t>higher</a:t>
            </a:r>
            <a:r>
              <a:rPr lang="en-US" sz="2400" dirty="0"/>
              <a:t> than Cards.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The total value generated on weekdays is more than </a:t>
            </a:r>
            <a:r>
              <a:rPr lang="en-US" sz="2400" b="1" dirty="0"/>
              <a:t>2.4 times higher</a:t>
            </a:r>
            <a:r>
              <a:rPr lang="en-US" sz="2400" dirty="0"/>
              <a:t> than that of the weekends.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35069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C5298-8123-B968-E9DD-A2DAC5F5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1BC9-0777-BD24-CDFB-139ACF09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chemeClr val="accent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25917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AB8C-C459-B8DA-B625-8F0733FF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C7BA-8B9A-7B01-B7DF-3D4A3D59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376" y="1673728"/>
            <a:ext cx="8596668" cy="4133516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Core Business:</a:t>
            </a:r>
            <a:r>
              <a:rPr lang="en-US" sz="2400" dirty="0"/>
              <a:t> High demand for daily essentials like </a:t>
            </a:r>
            <a:r>
              <a:rPr lang="en-US" sz="2400" b="1" dirty="0"/>
              <a:t>Dairy, Bakery, and Fruits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Major Markets:</a:t>
            </a:r>
            <a:r>
              <a:rPr lang="en-US" sz="2400" dirty="0"/>
              <a:t> Highest activity is seen in </a:t>
            </a:r>
            <a:r>
              <a:rPr lang="en-US" sz="2400" b="1" dirty="0"/>
              <a:t>Bangalore and Hyderabad</a:t>
            </a:r>
            <a:r>
              <a:rPr lang="en-US" sz="2400" dirty="0"/>
              <a:t>, specifically in areas like Whitefield and Dwarka.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Biggest Pain Point:</a:t>
            </a:r>
            <a:r>
              <a:rPr lang="en-US" sz="2400" dirty="0"/>
              <a:t> </a:t>
            </a:r>
            <a:r>
              <a:rPr lang="en-US" sz="2400" b="1" dirty="0"/>
              <a:t>Delivery delays.</a:t>
            </a:r>
            <a:r>
              <a:rPr lang="en-US" sz="2400" dirty="0"/>
              <a:t> There is a high frequency of "Late" statuses, which is causing many </a:t>
            </a:r>
            <a:r>
              <a:rPr lang="en-US" sz="2400" b="1" dirty="0"/>
              <a:t>0 and 1-star customer ratings</a:t>
            </a:r>
            <a:r>
              <a:rPr lang="en-US" sz="2400" dirty="0"/>
              <a:t>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Payment Trends:</a:t>
            </a:r>
            <a:r>
              <a:rPr lang="en-US" sz="2400" dirty="0"/>
              <a:t> Customers are using a mix of </a:t>
            </a:r>
            <a:r>
              <a:rPr lang="en-US" sz="2400" b="1" dirty="0"/>
              <a:t>UPI, Wallets, and COD</a:t>
            </a:r>
            <a:r>
              <a:rPr lang="en-US" sz="2400" dirty="0"/>
              <a:t>, showing a preference for digital payments but a continued reliance on cash.</a:t>
            </a:r>
          </a:p>
          <a:p>
            <a:pPr>
              <a:spcAft>
                <a:spcPts val="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5016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D533-442F-4EF9-B141-0567230B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D8CF-DCEC-8F2B-5AAE-0D67F34C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370" y="2894149"/>
            <a:ext cx="5196692" cy="1069701"/>
          </a:xfrm>
        </p:spPr>
        <p:txBody>
          <a:bodyPr>
            <a:normAutofit/>
          </a:bodyPr>
          <a:lstStyle/>
          <a:p>
            <a:r>
              <a:rPr lang="en-IN" sz="6000" b="1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2161865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224</TotalTime>
  <Words>524</Words>
  <Application>Microsoft Office PowerPoint</Application>
  <PresentationFormat>Widescreen</PresentationFormat>
  <Paragraphs>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Algerian</vt:lpstr>
      <vt:lpstr>Arial</vt:lpstr>
      <vt:lpstr>Arial Black</vt:lpstr>
      <vt:lpstr>Century Gothic</vt:lpstr>
      <vt:lpstr>Segoe UI</vt:lpstr>
      <vt:lpstr>Wingdings</vt:lpstr>
      <vt:lpstr>Wingdings 3</vt:lpstr>
      <vt:lpstr>Ion</vt:lpstr>
      <vt:lpstr>Customer Order Data Analysis Report</vt:lpstr>
      <vt:lpstr>Objective</vt:lpstr>
      <vt:lpstr>Questions</vt:lpstr>
      <vt:lpstr>DATASET</vt:lpstr>
      <vt:lpstr>PowerPoint Presentation</vt:lpstr>
      <vt:lpstr>CHARTS</vt:lpstr>
      <vt:lpstr> Data Wise Payable Amount </vt:lpstr>
      <vt:lpstr>Order Delivery Status Report</vt:lpstr>
      <vt:lpstr>Apply The Discount People</vt:lpstr>
      <vt:lpstr>City Wise Total Product</vt:lpstr>
      <vt:lpstr>Product Name Wise Total Report</vt:lpstr>
      <vt:lpstr>Payment Mode Wise Total Report</vt:lpstr>
      <vt:lpstr>Check The Days Wise Total Value</vt:lpstr>
      <vt:lpstr>   SLICERS</vt:lpstr>
      <vt:lpstr>FINAL DASHBOARD</vt:lpstr>
      <vt:lpstr>INSIGHTS</vt:lpstr>
      <vt:lpstr>PowerPoint Presentation</vt:lpstr>
      <vt:lpstr>PowerPoint Presentation</vt:lpstr>
      <vt:lpstr>CONCLUSION</vt:lpstr>
      <vt:lpstr>PowerPoint Presentation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Dhanashri Vijay Vengurlekar</dc:creator>
  <cp:lastModifiedBy>ISHANT KOLI</cp:lastModifiedBy>
  <cp:revision>19</cp:revision>
  <dcterms:created xsi:type="dcterms:W3CDTF">2025-06-11T05:14:04Z</dcterms:created>
  <dcterms:modified xsi:type="dcterms:W3CDTF">2026-01-04T14:17:58Z</dcterms:modified>
</cp:coreProperties>
</file>